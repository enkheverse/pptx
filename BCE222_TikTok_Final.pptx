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457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C9A84C"/>
                </a:solidFill>
                <a:latin typeface="Calibri"/>
              </a:rPr>
              <a:t>BCE222  |  FINAL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Business Communication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Ethics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8A93A6"/>
                </a:solidFill>
                <a:latin typeface="Calibri"/>
              </a:rPr>
              <a:t>TikTok US Ban — A Case Study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41648"/>
            <a:ext cx="41148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28016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 i="0">
                <a:solidFill>
                  <a:srgbClr val="C9A84C"/>
                </a:solidFill>
                <a:latin typeface="Calibri"/>
              </a:rPr>
              <a:t>01  </a:t>
            </a:r>
            <a:r>
              <a:rPr sz="1100" b="0" i="0">
                <a:solidFill>
                  <a:srgbClr val="1B2A4A"/>
                </a:solidFill>
                <a:latin typeface="Calibri"/>
              </a:rPr>
              <a:t>Foundations of Business Communication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84C"/>
                </a:solidFill>
                <a:latin typeface="Calibri"/>
              </a:rPr>
              <a:t>02  </a:t>
            </a:r>
            <a:r>
              <a:rPr sz="1100" b="0" i="0">
                <a:solidFill>
                  <a:srgbClr val="1B2A4A"/>
                </a:solidFill>
                <a:latin typeface="Calibri"/>
              </a:rPr>
              <a:t>Interpersonal &amp; Cross-Cultural Communication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84C"/>
                </a:solidFill>
                <a:latin typeface="Calibri"/>
              </a:rPr>
              <a:t>03  </a:t>
            </a:r>
            <a:r>
              <a:rPr sz="1100" b="0" i="0">
                <a:solidFill>
                  <a:srgbClr val="1B2A4A"/>
                </a:solidFill>
                <a:latin typeface="Calibri"/>
              </a:rPr>
              <a:t>Written Communication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84C"/>
                </a:solidFill>
                <a:latin typeface="Calibri"/>
              </a:rPr>
              <a:t>04  </a:t>
            </a:r>
            <a:r>
              <a:rPr sz="1100" b="0" i="0">
                <a:solidFill>
                  <a:srgbClr val="1B2A4A"/>
                </a:solidFill>
                <a:latin typeface="Calibri"/>
              </a:rPr>
              <a:t>Persuasive &amp; Strategic Communication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84C"/>
                </a:solidFill>
                <a:latin typeface="Calibri"/>
              </a:rPr>
              <a:t>05  </a:t>
            </a:r>
            <a:r>
              <a:rPr sz="1100" b="0" i="0">
                <a:solidFill>
                  <a:srgbClr val="1B2A4A"/>
                </a:solidFill>
                <a:latin typeface="Calibri"/>
              </a:rPr>
              <a:t>Corporate Governance &amp; CSR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84C"/>
                </a:solidFill>
                <a:latin typeface="Calibri"/>
              </a:rPr>
              <a:t>06  </a:t>
            </a:r>
            <a:r>
              <a:rPr sz="1100" b="0" i="0">
                <a:solidFill>
                  <a:srgbClr val="1B2A4A"/>
                </a:solidFill>
                <a:latin typeface="Calibri"/>
              </a:rPr>
              <a:t>Ethics in Communication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84C"/>
                </a:solidFill>
                <a:latin typeface="Calibri"/>
              </a:rPr>
              <a:t>07  </a:t>
            </a:r>
            <a:r>
              <a:rPr sz="1100" b="0" i="0">
                <a:solidFill>
                  <a:srgbClr val="1B2A4A"/>
                </a:solidFill>
                <a:latin typeface="Calibri"/>
              </a:rPr>
              <a:t>Crisis Communication</a:t>
            </a:r>
          </a:p>
          <a:p>
            <a:pPr>
              <a:spcBef>
                <a:spcPts val="600"/>
              </a:spcBef>
            </a:pPr>
            <a:r>
              <a:rPr sz="1100" b="1" i="0">
                <a:solidFill>
                  <a:srgbClr val="C9A84C"/>
                </a:solidFill>
                <a:latin typeface="Calibri"/>
              </a:rPr>
              <a:t>08  </a:t>
            </a:r>
            <a:r>
              <a:rPr sz="1100" b="0" i="0">
                <a:solidFill>
                  <a:srgbClr val="1B2A4A"/>
                </a:solidFill>
                <a:latin typeface="Calibri"/>
              </a:rPr>
              <a:t>Digital Communication &amp; Ethics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" y="502920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84C"/>
                </a:solidFill>
                <a:latin typeface="Calibri"/>
              </a:rPr>
              <a:t>FOUNDATIONS OF BUSINESS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"/>
            <a:ext cx="9326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When Silence Becomes a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689336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106893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TikTok operates in 150+ countries — 1B+ active users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Channels: congressional testimony, press releases, in-app notifications, CEO interviews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Key barrier: trust deficit — US regulators vs ByteDance ownership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Goal: reassure Western stakeholders without alienating Chinese parent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Result: mixed messaging that satisfied no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251960"/>
            <a:ext cx="10689336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893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C9A84C"/>
                </a:solidFill>
                <a:latin typeface="Calibri"/>
              </a:rPr>
              <a:t>Ethical Angle:  </a:t>
            </a:r>
            <a:r>
              <a:rPr sz="1100" b="0" i="1">
                <a:solidFill>
                  <a:srgbClr val="2C3E50"/>
                </a:solidFill>
                <a:latin typeface="Calibri"/>
              </a:rPr>
              <a:t>Strategic ambiguity is not neutral — it erodes trust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828032"/>
            <a:ext cx="10689336" cy="9525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10689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8A93A6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8A93A6"/>
                </a:solidFill>
                <a:latin typeface="Calibri"/>
              </a:rPr>
              <a:t>US Congress Hearing, Shou Zi Chew Testimony (2023)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93A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" y="502920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84C"/>
                </a:solidFill>
                <a:latin typeface="Calibri"/>
              </a:rPr>
              <a:t>INTERPERSONAL &amp; CROSS-CULTURAL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"/>
            <a:ext cx="9326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Lost in Translation — East vs West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689336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106893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Stakeholders: US Senate, ByteDance (Beijing), 170M US users, advertisers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Cultural gap: collectivist/state-aligned (China) vs individual privacy/free market (USA)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Chew's testimony: calm and formal — misread by senators as evasive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High-context (China) vs low-context (USA) communication clash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No cultural bridge strategy was in place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251960"/>
            <a:ext cx="10689336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893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C9A84C"/>
                </a:solidFill>
                <a:latin typeface="Calibri"/>
              </a:rPr>
              <a:t>Ethical Angle:  </a:t>
            </a:r>
            <a:r>
              <a:rPr sz="1100" b="0" i="1">
                <a:solidFill>
                  <a:srgbClr val="2C3E50"/>
                </a:solidFill>
                <a:latin typeface="Calibri"/>
              </a:rPr>
              <a:t>Cross-cultural communication failures have real policy consequences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828032"/>
            <a:ext cx="10689336" cy="9525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10689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8A93A6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8A93A6"/>
                </a:solidFill>
                <a:latin typeface="Calibri"/>
              </a:rPr>
              <a:t>Hofstede, G. (2001) Culture's Consequences, 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93A6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" y="502920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84C"/>
                </a:solidFill>
                <a:latin typeface="Calibri"/>
              </a:rPr>
              <a:t>WRITTEN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"/>
            <a:ext cx="9326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The Letter That Didn't Convince Anyone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0" i="0">
                <a:solidFill>
                  <a:srgbClr val="FFFFFF"/>
                </a:solidFill>
                <a:latin typeface="Calibri"/>
              </a:rPr>
              <a:t>✉️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689336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106893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TikTok submitted formal written responses to Congress pre-hearing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Tone: defensive, technical, overly legal — missing empathy and plain language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ACCA standard: clarity, structure, audience-appropriate tone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C9A84C"/>
                </a:solidFill>
                <a:latin typeface="Calibri"/>
              </a:rPr>
              <a:t>BETTER MEMO</a:t>
            </a:r>
          </a:p>
          <a:p>
            <a:pPr>
              <a:spcBef>
                <a:spcPts val="100"/>
              </a:spcBef>
            </a:pPr>
            <a:r>
              <a:rPr sz="950" b="0" i="1">
                <a:solidFill>
                  <a:srgbClr val="4A5E78"/>
                </a:solidFill>
                <a:latin typeface="Calibri"/>
              </a:rPr>
              <a:t>      Subject: TikTok's Commitment to US Data Security</a:t>
            </a:r>
          </a:p>
          <a:p>
            <a:pPr>
              <a:spcBef>
                <a:spcPts val="100"/>
              </a:spcBef>
            </a:pPr>
            <a:r>
              <a:rPr sz="950" b="0" i="1">
                <a:solidFill>
                  <a:srgbClr val="4A5E78"/>
                </a:solidFill>
                <a:latin typeface="Calibri"/>
              </a:rPr>
              <a:t>      US user data is ring-fenced on domestic servers under Project Texas. No foreign entity has access. Audit trail enclosed.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251960"/>
            <a:ext cx="10689336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893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C9A84C"/>
                </a:solidFill>
                <a:latin typeface="Calibri"/>
              </a:rPr>
              <a:t>Ethical Angle:  </a:t>
            </a:r>
            <a:r>
              <a:rPr sz="1100" b="0" i="1">
                <a:solidFill>
                  <a:srgbClr val="2C3E50"/>
                </a:solidFill>
                <a:latin typeface="Calibri"/>
              </a:rPr>
              <a:t>Burying key facts in legal language = obscuring accountability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828032"/>
            <a:ext cx="10689336" cy="9525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10689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8A93A6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8A93A6"/>
                </a:solidFill>
                <a:latin typeface="Calibri"/>
              </a:rPr>
              <a:t>Guffey, M. (2016) Business Communication, Cengage; TikTok Congressional Brief (2023)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93A6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" y="502920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84C"/>
                </a:solidFill>
                <a:latin typeface="Calibri"/>
              </a:rPr>
              <a:t>PERSUASIVE &amp; STRATEGIC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"/>
            <a:ext cx="9326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Project Texas — Persuasion or PR?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689336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106893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Project Texas: $1.5B plan to store all US data on domestic servers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Ethos: 'We've invested $1.5B to prove our commitment'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Pathos: '150M Americans use TikTok — a ban hurts creators'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Logos: independent audits and Oracle partnership as evidence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Goal: delay or prevent ban through credibility-building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251960"/>
            <a:ext cx="10689336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893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C9A84C"/>
                </a:solidFill>
                <a:latin typeface="Calibri"/>
              </a:rPr>
              <a:t>Ethical Angle:  </a:t>
            </a:r>
            <a:r>
              <a:rPr sz="1100" b="0" i="1">
                <a:solidFill>
                  <a:srgbClr val="2C3E50"/>
                </a:solidFill>
                <a:latin typeface="Calibri"/>
              </a:rPr>
              <a:t>Persuasion built on incomplete disclosure is manipulation dressed as transparency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828032"/>
            <a:ext cx="10689336" cy="9525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10689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8A93A6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8A93A6"/>
                </a:solidFill>
                <a:latin typeface="Calibri"/>
              </a:rPr>
              <a:t>Aristotle (350 BC) Rhetoric; Forbes (2023) 'Project Texas Explained'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93A6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" y="502920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84C"/>
                </a:solidFill>
                <a:latin typeface="Calibri"/>
              </a:rPr>
              <a:t>CORPORATE GOVERNANCE &amp; CSR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"/>
            <a:ext cx="9326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Who Actually Controls TikTok?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0" i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689336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106893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ByteDance holds majority ownership — raises governance independence questions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C9A84C"/>
                </a:solidFill>
                <a:latin typeface="Calibri"/>
              </a:rPr>
              <a:t>ESG risk: E — data centre energy</a:t>
            </a:r>
          </a:p>
          <a:p>
            <a:pPr>
              <a:spcBef>
                <a:spcPts val="100"/>
              </a:spcBef>
            </a:pPr>
            <a:r>
              <a:rPr sz="950" b="0" i="1">
                <a:solidFill>
                  <a:srgbClr val="4A5E78"/>
                </a:solidFill>
                <a:latin typeface="Calibri"/>
              </a:rPr>
              <a:t>      S — youth mental health</a:t>
            </a:r>
          </a:p>
          <a:p>
            <a:pPr>
              <a:spcBef>
                <a:spcPts val="100"/>
              </a:spcBef>
            </a:pPr>
            <a:r>
              <a:rPr sz="950" b="0" i="1">
                <a:solidFill>
                  <a:srgbClr val="4A5E78"/>
                </a:solidFill>
                <a:latin typeface="Calibri"/>
              </a:rPr>
              <a:t>      G — foreign ownership opacity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CSR claim: digital literacy, creator funds, transparency reports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Reality: governance structure prevents full independence from Chinese law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EU fined TikTok €5.4M (2023) for child data violations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251960"/>
            <a:ext cx="10689336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893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C9A84C"/>
                </a:solidFill>
                <a:latin typeface="Calibri"/>
              </a:rPr>
              <a:t>Ethical Angle:  </a:t>
            </a:r>
            <a:r>
              <a:rPr sz="1100" b="0" i="1">
                <a:solidFill>
                  <a:srgbClr val="2C3E50"/>
                </a:solidFill>
                <a:latin typeface="Calibri"/>
              </a:rPr>
              <a:t>CSR without governance independence is performative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828032"/>
            <a:ext cx="10689336" cy="9525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10689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8A93A6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8A93A6"/>
                </a:solidFill>
                <a:latin typeface="Calibri"/>
              </a:rPr>
              <a:t>EU Data Protection Board (2023); Freeman, R.E. (1984) Stakeholder Theory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93A6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" y="502920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84C"/>
                </a:solidFill>
                <a:latin typeface="Calibri"/>
              </a:rPr>
              <a:t>ETHICS IN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"/>
            <a:ext cx="9326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Privacy, Power &amp; 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689336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106893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Ethical risks: data harvesting, surveillance capitalism, targeting minors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ACCA principles violated: Objectivity, Professional Behaviour, Confidentiality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ByteDance engineers accessed US journalist location data (2022 — confirmed)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Response: employees fired, incident labelled isolated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Structural problem: platform incentivises engagement over user wellbeing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251960"/>
            <a:ext cx="10689336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893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C9A84C"/>
                </a:solidFill>
                <a:latin typeface="Calibri"/>
              </a:rPr>
              <a:t>Ethical Angle:  </a:t>
            </a:r>
            <a:r>
              <a:rPr sz="1100" b="0" i="1">
                <a:solidFill>
                  <a:srgbClr val="2C3E50"/>
                </a:solidFill>
                <a:latin typeface="Calibri"/>
              </a:rPr>
              <a:t>'We fired the individuals' is not a systemic ethical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828032"/>
            <a:ext cx="10689336" cy="9525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10689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8A93A6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8A93A6"/>
                </a:solidFill>
                <a:latin typeface="Calibri"/>
              </a:rPr>
              <a:t>ACCA Code of Ethics (2023); Forbes (2022) 'ByteDance Tracked Journalists'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93A6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" y="502920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84C"/>
                </a:solidFill>
                <a:latin typeface="Calibri"/>
              </a:rPr>
              <a:t>CRISIS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"/>
            <a:ext cx="9326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Ban Threat — 72 Hours to Respond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0" i="0">
                <a:solidFill>
                  <a:srgbClr val="FFFFFF"/>
                </a:solidFill>
                <a:latin typeface="Calibri"/>
              </a:rPr>
              <a:t>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689336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106893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Crisis: April 2024 — US House passed bill forcing divestiture or ban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Response: CEO user video, in-app notifications, legal challenge filed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What worked: direct creator mobilisation — users called Congress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What failed: no clear timeline, no divestiture plan communicated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C9A84C"/>
                </a:solidFill>
                <a:latin typeface="Calibri"/>
              </a:rPr>
              <a:t>MOCK STATEMENT</a:t>
            </a:r>
          </a:p>
          <a:p>
            <a:pPr>
              <a:spcBef>
                <a:spcPts val="100"/>
              </a:spcBef>
            </a:pPr>
            <a:r>
              <a:rPr sz="950" b="0" i="1">
                <a:solidFill>
                  <a:srgbClr val="4A5E78"/>
                </a:solidFill>
                <a:latin typeface="Calibri"/>
              </a:rPr>
              <a:t>      'TikTok supports independent oversight and will pursue every legal avenue to continue serving 170M American users.'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251960"/>
            <a:ext cx="10689336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893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C9A84C"/>
                </a:solidFill>
                <a:latin typeface="Calibri"/>
              </a:rPr>
              <a:t>Ethical Angle:  </a:t>
            </a:r>
            <a:r>
              <a:rPr sz="1100" b="0" i="1">
                <a:solidFill>
                  <a:srgbClr val="2C3E50"/>
                </a:solidFill>
                <a:latin typeface="Calibri"/>
              </a:rPr>
              <a:t>Mobilising users as political shields raises questions about platform power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828032"/>
            <a:ext cx="10689336" cy="9525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10689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8A93A6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8A93A6"/>
                </a:solidFill>
                <a:latin typeface="Calibri"/>
              </a:rPr>
              <a:t>Coombs, W.T. (2015) Ongoing Crisis Communication, Sage; BBC News (2024)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93A6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" y="502920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2A4A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C9A84C"/>
                </a:solidFill>
                <a:latin typeface="Calibri"/>
              </a:rPr>
              <a:t>DIGITAL COMMUNICATION &amp; ETHICS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02920"/>
            <a:ext cx="9326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The Irony — A Digital Giant's Digital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274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417320"/>
            <a:ext cx="10689336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81912"/>
            <a:ext cx="106893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#SaveTikTok vs #BanTikTok — TikTok's own platform became the battleground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AI algorithm risk: recommendation engine amplified ban panic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Privacy paradox: app built on data collection fighting a battle about data collection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2C3E50"/>
                </a:solidFill>
                <a:latin typeface="Calibri"/>
              </a:rPr>
              <a:t>Post-crisis move: transparency centre launched, open-source algorithm proposed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251960"/>
            <a:ext cx="10689336" cy="127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43400"/>
            <a:ext cx="106893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1">
                <a:solidFill>
                  <a:srgbClr val="C9A84C"/>
                </a:solidFill>
                <a:latin typeface="Calibri"/>
              </a:rPr>
              <a:t>Ethical Angle:  </a:t>
            </a:r>
            <a:r>
              <a:rPr sz="1100" b="0" i="1">
                <a:solidFill>
                  <a:srgbClr val="2C3E50"/>
                </a:solidFill>
                <a:latin typeface="Calibri"/>
              </a:rPr>
              <a:t>You cannot credibly champion digital ethics while your business model contradicts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828032"/>
            <a:ext cx="10689336" cy="9525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82896"/>
            <a:ext cx="10689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8A93A6"/>
                </a:solidFill>
                <a:latin typeface="Calibri"/>
              </a:rPr>
              <a:t>References:  </a:t>
            </a:r>
            <a:r>
              <a:rPr sz="800" b="0" i="1">
                <a:solidFill>
                  <a:srgbClr val="8A93A6"/>
                </a:solidFill>
                <a:latin typeface="Calibri"/>
              </a:rPr>
              <a:t>Wired (2024) 'TikTok's Fight for Survival'; Zuboff, S. (2019) Surveillance Capitalism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8A93A6"/>
                </a:solidFill>
                <a:latin typeface="Calibri"/>
              </a:rPr>
              <a:t>BCE222 Final Assignment  |  TikTok US Ban Case Study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A93A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