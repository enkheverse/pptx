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834640"/>
            <a:ext cx="6217920" cy="254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2C"/>
                </a:solidFill>
                <a:latin typeface="Calibri"/>
              </a:rPr>
              <a:t>BCE222  |  FINAL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Business Communication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Ethics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443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A Case Study on the Volkswagen Dieselgate Scandal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 i="0">
                <a:solidFill>
                  <a:srgbClr val="C9A02C"/>
                </a:solidFill>
                <a:latin typeface="Calibri"/>
              </a:rPr>
              <a:t>01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Foundations of Business Communication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C9A02C"/>
                </a:solidFill>
                <a:latin typeface="Calibri"/>
              </a:rPr>
              <a:t>02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Interpersonal &amp; Cross-Cultural Communication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C9A02C"/>
                </a:solidFill>
                <a:latin typeface="Calibri"/>
              </a:rPr>
              <a:t>03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Written Communication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C9A02C"/>
                </a:solidFill>
                <a:latin typeface="Calibri"/>
              </a:rPr>
              <a:t>04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Persuasive &amp; Strategic Communication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C9A02C"/>
                </a:solidFill>
                <a:latin typeface="Calibri"/>
              </a:rPr>
              <a:t>05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Corporate Governance &amp; CSR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C9A02C"/>
                </a:solidFill>
                <a:latin typeface="Calibri"/>
              </a:rPr>
              <a:t>06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Ethics in Communication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C9A02C"/>
                </a:solidFill>
                <a:latin typeface="Calibri"/>
              </a:rPr>
              <a:t>07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Crisis Communication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C9A02C"/>
                </a:solidFill>
                <a:latin typeface="Calibri"/>
              </a:rPr>
              <a:t>08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Digital Communication &amp; Ethics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A80A8"/>
                </a:solidFill>
                <a:latin typeface="Calibri"/>
              </a:rPr>
              <a:t>BCE222 Final Assignment  |  Volkswagen Dieselgate Case Study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420624"/>
            <a:ext cx="438912" cy="438912"/>
          </a:xfrm>
          <a:prstGeom prst="ellipse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02C"/>
                </a:solidFill>
                <a:latin typeface="Calibri"/>
              </a:rPr>
              <a:t>FOUNDATIONS OF BUSINESS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Communication at the Core — Volkswagen AG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10698480" cy="1905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VW operates in 150+ countries requiring multi-channel communication strategies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Channels used: internal memos, press releases, shareholder reports, digital media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Key barrier identified: information silos between engineering and management — emissions data was known internally but never escalated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Communication breakdown directly enabled the Dieselgate scandal (2015)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Lesson: transparent vertical communication is not optional, it is a governance requirement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224528"/>
            <a:ext cx="10698480" cy="658368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4224528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7939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0392B"/>
                </a:solidFill>
                <a:latin typeface="Calibri"/>
              </a:rPr>
              <a:t>ETHICAL ANGLE:  </a:t>
            </a:r>
            <a:r>
              <a:rPr sz="1000" b="0" i="1">
                <a:solidFill>
                  <a:srgbClr val="FFFFFF"/>
                </a:solidFill>
                <a:latin typeface="Calibri"/>
              </a:rPr>
              <a:t>Deliberate withholding of information = violation of integrity and transparency principles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956048"/>
            <a:ext cx="10698480" cy="9525"/>
          </a:xfrm>
          <a:prstGeom prst="rect">
            <a:avLst/>
          </a:prstGeom>
          <a:solidFill>
            <a:srgbClr val="3A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01091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02C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B0C4DE"/>
                </a:solidFill>
                <a:latin typeface="Calibri"/>
              </a:rPr>
              <a:t>Volkswagen AG Annual Report (2015); Argenti, P. (2015) Corporate Communication, McGraw-Hill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5745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A80A8"/>
                </a:solidFill>
                <a:latin typeface="Calibri"/>
              </a:rPr>
              <a:t>BCE222 Final Assignment  |  Volkswagen Dieselgate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74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A80A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420624"/>
            <a:ext cx="438912" cy="438912"/>
          </a:xfrm>
          <a:prstGeom prst="ellipse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02C"/>
                </a:solidFill>
                <a:latin typeface="Calibri"/>
              </a:rPr>
              <a:t>INTERPERSONAL &amp; CROSS-CULTURAL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Global Stakeholders, Local Failures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10698480" cy="1905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Stakeholders: US regulators (EPA), German government, 11 million car owners globally, VW employees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Cultural clash: German engineering culture prioritised performance over compliance with US environmental standards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High-context (Germany) vs low-context (USA) communication styles caused misalignment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VW's response messaging was adapted differently per market — inconsistent and damaging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Cross-cultural competence was absent at executive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224528"/>
            <a:ext cx="10698480" cy="658368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4224528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7939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0392B"/>
                </a:solidFill>
                <a:latin typeface="Calibri"/>
              </a:rPr>
              <a:t>ETHICAL ANGLE:  </a:t>
            </a:r>
            <a:r>
              <a:rPr sz="1000" b="0" i="1">
                <a:solidFill>
                  <a:srgbClr val="FFFFFF"/>
                </a:solidFill>
                <a:latin typeface="Calibri"/>
              </a:rPr>
              <a:t>Adapting message per audience to minimise accountability = manipulative communication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956048"/>
            <a:ext cx="10698480" cy="9525"/>
          </a:xfrm>
          <a:prstGeom prst="rect">
            <a:avLst/>
          </a:prstGeom>
          <a:solidFill>
            <a:srgbClr val="3A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01091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02C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B0C4DE"/>
                </a:solidFill>
                <a:latin typeface="Calibri"/>
              </a:rPr>
              <a:t>Hofstede, G. (2001) Culture's Consequences, Sage; BBC News (2015) VW Emissions Scandal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5745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A80A8"/>
                </a:solidFill>
                <a:latin typeface="Calibri"/>
              </a:rPr>
              <a:t>BCE222 Final Assignment  |  Volkswagen Dieselgate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74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A80A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420624"/>
            <a:ext cx="438912" cy="438912"/>
          </a:xfrm>
          <a:prstGeom prst="ellipse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02C"/>
                </a:solidFill>
                <a:latin typeface="Calibri"/>
              </a:rPr>
              <a:t>WRITTEN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Memo That Should Have Been 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10698480" cy="1905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Example: Internal memo from compliance officer to CEO (fictional but realistic)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Tone: formal, factual, urgent — following ACCA professional writing standards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Structure: Issue → Evidence → Risk → Recommended Action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ACCA standard: clear subject line, no ambiguity, action-oriented closing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This memo was never sent — absence of written escalation enabled the cover-up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1" i="0">
                <a:solidFill>
                  <a:srgbClr val="C9A02C"/>
                </a:solidFill>
                <a:latin typeface="Calibri"/>
              </a:rPr>
              <a:t>MOCK MEMO EXCERPT</a:t>
            </a:r>
          </a:p>
          <a:p>
            <a:pPr>
              <a:spcBef>
                <a:spcPts val="100"/>
              </a:spcBef>
            </a:pPr>
            <a:r>
              <a:rPr sz="1000" b="0" i="1">
                <a:solidFill>
                  <a:srgbClr val="B0C4DE"/>
                </a:solidFill>
                <a:latin typeface="Calibri"/>
              </a:rPr>
              <a:t>      To: CEO, Volkswagen AG</a:t>
            </a:r>
          </a:p>
          <a:p>
            <a:pPr>
              <a:spcBef>
                <a:spcPts val="100"/>
              </a:spcBef>
            </a:pPr>
            <a:r>
              <a:rPr sz="1000" b="0" i="1">
                <a:solidFill>
                  <a:srgbClr val="B0C4DE"/>
                </a:solidFill>
                <a:latin typeface="Calibri"/>
              </a:rPr>
              <a:t>      From: Compliance Department</a:t>
            </a:r>
          </a:p>
          <a:p>
            <a:pPr>
              <a:spcBef>
                <a:spcPts val="100"/>
              </a:spcBef>
            </a:pPr>
            <a:r>
              <a:rPr sz="1000" b="0" i="1">
                <a:solidFill>
                  <a:srgbClr val="B0C4DE"/>
                </a:solidFill>
                <a:latin typeface="Calibri"/>
              </a:rPr>
              <a:t>      Subject: Emissions Software — Regulatory Risk</a:t>
            </a:r>
          </a:p>
          <a:p>
            <a:pPr>
              <a:spcBef>
                <a:spcPts val="100"/>
              </a:spcBef>
            </a:pPr>
            <a:r>
              <a:rPr sz="1000" b="0" i="1">
                <a:solidFill>
                  <a:srgbClr val="B0C4DE"/>
                </a:solidFill>
                <a:latin typeface="Calibri"/>
              </a:rPr>
              <a:t>      The defeat device in 11M vehicles violates EPA Clean Air Act standards. Immediate disclosure is recommended to avoid criminal liability.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224528"/>
            <a:ext cx="10698480" cy="658368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4224528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7939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0392B"/>
                </a:solidFill>
                <a:latin typeface="Calibri"/>
              </a:rPr>
              <a:t>ETHICAL ANGLE:  </a:t>
            </a:r>
            <a:r>
              <a:rPr sz="1000" b="0" i="1">
                <a:solidFill>
                  <a:srgbClr val="FFFFFF"/>
                </a:solidFill>
                <a:latin typeface="Calibri"/>
              </a:rPr>
              <a:t>This memo was never sent — absence of written escalation enabled the cover-up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956048"/>
            <a:ext cx="10698480" cy="9525"/>
          </a:xfrm>
          <a:prstGeom prst="rect">
            <a:avLst/>
          </a:prstGeom>
          <a:solidFill>
            <a:srgbClr val="3A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01091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02C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B0C4DE"/>
                </a:solidFill>
                <a:latin typeface="Calibri"/>
              </a:rPr>
              <a:t>ACCA (2023) Professional Ethics Module; Guffey, M. (2016) Business Communication, Cengage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5745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A80A8"/>
                </a:solidFill>
                <a:latin typeface="Calibri"/>
              </a:rPr>
              <a:t>BCE222 Final Assignment  |  Volkswagen Dieselgate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74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A80A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420624"/>
            <a:ext cx="438912" cy="438912"/>
          </a:xfrm>
          <a:prstGeom prst="ellipse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02C"/>
                </a:solidFill>
                <a:latin typeface="Calibri"/>
              </a:rPr>
              <a:t>PERSUASIVE &amp; STRATEGIC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Selling Clean Diesel — A False Narrative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10698480" cy="1905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VW's 'Think Blue' campaign persuaded consumers and regulators that diesel was eco-friendly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Ethos: leveraged VW's 60-year brand reputation for credibility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Pathos: environmental messaging appealed directly to eco-conscious buyers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Logos: manipulated emissions test data was presented as factual scientific evidence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Strategic goal: dominate US market by positioning diesel as a sustainable alternative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224528"/>
            <a:ext cx="10698480" cy="658368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4224528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7939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0392B"/>
                </a:solidFill>
                <a:latin typeface="Calibri"/>
              </a:rPr>
              <a:t>ETHICAL ANGLE:  </a:t>
            </a:r>
            <a:r>
              <a:rPr sz="1000" b="0" i="1">
                <a:solidFill>
                  <a:srgbClr val="FFFFFF"/>
                </a:solidFill>
                <a:latin typeface="Calibri"/>
              </a:rPr>
              <a:t>All three persuasion pillars (ethos, pathos, logos) were weaponised to deceive — textbook unethical persuasion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956048"/>
            <a:ext cx="10698480" cy="9525"/>
          </a:xfrm>
          <a:prstGeom prst="rect">
            <a:avLst/>
          </a:prstGeom>
          <a:solidFill>
            <a:srgbClr val="3A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01091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02C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B0C4DE"/>
                </a:solidFill>
                <a:latin typeface="Calibri"/>
              </a:rPr>
              <a:t>Aristotle (350 BC) Rhetoric; New York Times (2015) 'VW's Clean Diesel Campaign'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5745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A80A8"/>
                </a:solidFill>
                <a:latin typeface="Calibri"/>
              </a:rPr>
              <a:t>BCE222 Final Assignment  |  Volkswagen Dieselgate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74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A80A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420624"/>
            <a:ext cx="438912" cy="438912"/>
          </a:xfrm>
          <a:prstGeom prst="ellipse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02C"/>
                </a:solidFill>
                <a:latin typeface="Calibri"/>
              </a:rPr>
              <a:t>CORPORATE GOVERNANCE &amp; CSR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Governance Failure at Every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10698480" cy="1905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VW's supervisory board failed to challenge executive decisions on emissions targets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ESG failure: Environmental (fake emissions), Social (consumer deception), Governance (absent board oversight)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CSR contradiction: VW published sustainability reports while knowingly violating emissions law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$33 billion paid in fines, settlements, and recalls globally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Post-scandal: VW shifted to EV strategy (ID.4, ID.3) as genuine CSR pivot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224528"/>
            <a:ext cx="10698480" cy="658368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4224528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7939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0392B"/>
                </a:solidFill>
                <a:latin typeface="Calibri"/>
              </a:rPr>
              <a:t>ETHICAL ANGLE:  </a:t>
            </a:r>
            <a:r>
              <a:rPr sz="1000" b="0" i="1">
                <a:solidFill>
                  <a:srgbClr val="FFFFFF"/>
                </a:solidFill>
                <a:latin typeface="Calibri"/>
              </a:rPr>
              <a:t>CSR as marketing vs CSR as genuine commitment — VW was the former until forced to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956048"/>
            <a:ext cx="10698480" cy="9525"/>
          </a:xfrm>
          <a:prstGeom prst="rect">
            <a:avLst/>
          </a:prstGeom>
          <a:solidFill>
            <a:srgbClr val="3A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01091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02C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B0C4DE"/>
                </a:solidFill>
                <a:latin typeface="Calibri"/>
              </a:rPr>
              <a:t>VW Sustainability Report (2016); Freeman, R.E. (1984) Strategic Management: A Stakeholder 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5745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A80A8"/>
                </a:solidFill>
                <a:latin typeface="Calibri"/>
              </a:rPr>
              <a:t>BCE222 Final Assignment  |  Volkswagen Dieselgate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74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A80A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420624"/>
            <a:ext cx="438912" cy="438912"/>
          </a:xfrm>
          <a:prstGeom prst="ellipse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02C"/>
                </a:solidFill>
                <a:latin typeface="Calibri"/>
              </a:rPr>
              <a:t>ETHICS IN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Lies, Omissions and Accountability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10698480" cy="1905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Ethical risks present: misleading advertising, data manipulation, confidentiality breaches, reporting bias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ACCA ethical principles violated: Integrity, Objectivity, Professional Behaviour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Defeat device = deliberate misrepresentation to regulators — a premeditated ethical breach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Employees who knew stayed silent — ethical pressure and fear of retaliation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Whistleblower protection was absent in VW's corporate culture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224528"/>
            <a:ext cx="10698480" cy="658368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4224528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7939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0392B"/>
                </a:solidFill>
                <a:latin typeface="Calibri"/>
              </a:rPr>
              <a:t>ETHICAL ANGLE:  </a:t>
            </a:r>
            <a:r>
              <a:rPr sz="1000" b="0" i="1">
                <a:solidFill>
                  <a:srgbClr val="FFFFFF"/>
                </a:solidFill>
                <a:latin typeface="Calibri"/>
              </a:rPr>
              <a:t>Organisational silence is an active ethical failure — not speaking up = complicity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956048"/>
            <a:ext cx="10698480" cy="9525"/>
          </a:xfrm>
          <a:prstGeom prst="rect">
            <a:avLst/>
          </a:prstGeom>
          <a:solidFill>
            <a:srgbClr val="3A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01091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02C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B0C4DE"/>
                </a:solidFill>
                <a:latin typeface="Calibri"/>
              </a:rPr>
              <a:t>ACCA (2023) Code of Ethics and Conduct; Transparency International (2016) VW Case Study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5745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A80A8"/>
                </a:solidFill>
                <a:latin typeface="Calibri"/>
              </a:rPr>
              <a:t>BCE222 Final Assignment  |  Volkswagen Dieselgate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74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A80A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420624"/>
            <a:ext cx="438912" cy="438912"/>
          </a:xfrm>
          <a:prstGeom prst="ellipse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02C"/>
                </a:solidFill>
                <a:latin typeface="Calibri"/>
              </a:rPr>
              <a:t>CRISIS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Too Late, Too Little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10698480" cy="1905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Crisis: September 2015 — EPA publicly announced VW emissions violation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VW's response: denial → partial admission → CEO resignation (Martin Winterkorn)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Failures: delayed response, inconsistent messaging, no single designated spokesperson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Correct framework (not used): Acknowledge → Accept Responsibility → Action Plan → Apology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1" i="0">
                <a:solidFill>
                  <a:srgbClr val="C9A02C"/>
                </a:solidFill>
                <a:latin typeface="Calibri"/>
              </a:rPr>
              <a:t>WHAT THEY SHOULD HAVE SAID</a:t>
            </a:r>
          </a:p>
          <a:p>
            <a:pPr>
              <a:spcBef>
                <a:spcPts val="100"/>
              </a:spcBef>
            </a:pPr>
            <a:r>
              <a:rPr sz="1000" b="0" i="1">
                <a:solidFill>
                  <a:srgbClr val="B0C4DE"/>
                </a:solidFill>
                <a:latin typeface="Calibri"/>
              </a:rPr>
              <a:t>      'Volkswagen acknowledges a serious compliance failure affecting emissions software. We take full responsibility, are cooperating with all regulators, and commit to full transparency throughout this process.'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224528"/>
            <a:ext cx="10698480" cy="658368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4224528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7939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0392B"/>
                </a:solidFill>
                <a:latin typeface="Calibri"/>
              </a:rPr>
              <a:t>ETHICAL ANGLE:  </a:t>
            </a:r>
            <a:r>
              <a:rPr sz="1000" b="0" i="1">
                <a:solidFill>
                  <a:srgbClr val="FFFFFF"/>
                </a:solidFill>
                <a:latin typeface="Calibri"/>
              </a:rPr>
              <a:t>Crisis communication is a moral act — delayed truth causes greater harm to all stakeholders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956048"/>
            <a:ext cx="10698480" cy="9525"/>
          </a:xfrm>
          <a:prstGeom prst="rect">
            <a:avLst/>
          </a:prstGeom>
          <a:solidFill>
            <a:srgbClr val="3A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01091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02C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B0C4DE"/>
                </a:solidFill>
                <a:latin typeface="Calibri"/>
              </a:rPr>
              <a:t>Coombs, W.T. (2015) Ongoing Crisis Communication, Sage; Reuters (2015) VW Crisis Timeline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5745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A80A8"/>
                </a:solidFill>
                <a:latin typeface="Calibri"/>
              </a:rPr>
              <a:t>BCE222 Final Assignment  |  Volkswagen Dieselgate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74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A80A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420624"/>
            <a:ext cx="438912" cy="438912"/>
          </a:xfrm>
          <a:prstGeom prst="ellipse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02C"/>
                </a:solidFill>
                <a:latin typeface="Calibri"/>
              </a:rPr>
              <a:t>DIGITAL COMMUNICATION &amp; ETHICS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Scandal in the Age of Social Media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10698480" cy="1905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#VWScandal trended globally within hours of the EPA announcement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VW's social media team had no crisis protocol — accounts went silent for days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AI &amp; digital risk: defeat device itself was software-based deception — a technology ethics violation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Misinformation spread rapidly; VW lost complete control of the narrative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C9A02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Post-crisis: VW invested in digital transparency tools and live emissions tracking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224528"/>
            <a:ext cx="10698480" cy="658368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4224528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7939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0392B"/>
                </a:solidFill>
                <a:latin typeface="Calibri"/>
              </a:rPr>
              <a:t>ETHICAL ANGLE:  </a:t>
            </a:r>
            <a:r>
              <a:rPr sz="1000" b="0" i="1">
                <a:solidFill>
                  <a:srgbClr val="FFFFFF"/>
                </a:solidFill>
                <a:latin typeface="Calibri"/>
              </a:rPr>
              <a:t>Digital silence during a crisis = abandonment of stakeholder communication duty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956048"/>
            <a:ext cx="10698480" cy="9525"/>
          </a:xfrm>
          <a:prstGeom prst="rect">
            <a:avLst/>
          </a:prstGeom>
          <a:solidFill>
            <a:srgbClr val="3A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01091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02C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B0C4DE"/>
                </a:solidFill>
                <a:latin typeface="Calibri"/>
              </a:rPr>
              <a:t>Kaplan, A. &amp; Haenlein, M. (2010) Users of the world, unite! Business Horizons; Wired (2015) 'How VW's Cheating Software Worked'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5745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A80A8"/>
                </a:solidFill>
                <a:latin typeface="Calibri"/>
              </a:rPr>
              <a:t>BCE222 Final Assignment  |  Volkswagen Dieselgate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74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A80A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